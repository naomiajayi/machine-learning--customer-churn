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Albert Sans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bertSans-regular.fntdata"/><Relationship Id="rId22" Type="http://schemas.openxmlformats.org/officeDocument/2006/relationships/font" Target="fonts/AlbertSans-italic.fntdata"/><Relationship Id="rId21" Type="http://schemas.openxmlformats.org/officeDocument/2006/relationships/font" Target="fonts/AlbertSans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Albert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7991ba7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7991ba7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7991ba79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7991ba7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7991ba7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7991ba7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cfd7128e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cfd7128e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7991ba79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7991ba79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cfd7128e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cfd7128e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cfd7128e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cfd7128e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7991ba79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7991ba79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d24161aa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d24161aa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7267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Churn for a </a:t>
            </a:r>
            <a:r>
              <a:rPr lang="en"/>
              <a:t>Telecom</a:t>
            </a:r>
            <a:r>
              <a:rPr lang="en"/>
              <a:t> Company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bert Sans"/>
                <a:ea typeface="Albert Sans"/>
                <a:cs typeface="Albert Sans"/>
                <a:sym typeface="Albert Sans"/>
              </a:rPr>
              <a:t>Naomi Ajayi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591775" y="346300"/>
            <a:ext cx="3211800" cy="8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Case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Our goal is to help a telcompany </a:t>
            </a:r>
            <a:r>
              <a:rPr b="1" lang="en">
                <a:solidFill>
                  <a:srgbClr val="000000"/>
                </a:solidFill>
              </a:rPr>
              <a:t>identify</a:t>
            </a:r>
            <a:r>
              <a:rPr b="1" lang="en">
                <a:solidFill>
                  <a:srgbClr val="000000"/>
                </a:solidFill>
              </a:rPr>
              <a:t> churn to prevent </a:t>
            </a:r>
            <a:r>
              <a:rPr b="1" lang="en">
                <a:solidFill>
                  <a:srgbClr val="000000"/>
                </a:solidFill>
              </a:rPr>
              <a:t>unnecessary</a:t>
            </a:r>
            <a:r>
              <a:rPr b="1" lang="en">
                <a:solidFill>
                  <a:srgbClr val="000000"/>
                </a:solidFill>
              </a:rPr>
              <a:t> profit loss by using predictive models like logistic regression, decision tree, and KNN.</a:t>
            </a:r>
            <a:endParaRPr b="1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5110E"/>
              </a:buClr>
              <a:buSzPts val="1400"/>
              <a:buFont typeface="Albert Sans"/>
              <a:buChar char="●"/>
            </a:pPr>
            <a:r>
              <a:rPr lang="en" sz="1400">
                <a:solidFill>
                  <a:srgbClr val="15110E"/>
                </a:solidFill>
                <a:latin typeface="Albert Sans"/>
                <a:ea typeface="Albert Sans"/>
                <a:cs typeface="Albert Sans"/>
                <a:sym typeface="Albert Sans"/>
              </a:rPr>
              <a:t>This dataset provides multiple factors, such as gender, customer tenure, type of contract, and more.</a:t>
            </a:r>
            <a:endParaRPr sz="1400">
              <a:solidFill>
                <a:srgbClr val="15110E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10E"/>
              </a:buClr>
              <a:buSzPts val="1400"/>
              <a:buFont typeface="Albert Sans"/>
              <a:buChar char="●"/>
            </a:pPr>
            <a:r>
              <a:rPr lang="en" sz="1400">
                <a:solidFill>
                  <a:srgbClr val="15110E"/>
                </a:solidFill>
                <a:latin typeface="Albert Sans"/>
                <a:ea typeface="Albert Sans"/>
                <a:cs typeface="Albert Sans"/>
                <a:sym typeface="Albert Sans"/>
              </a:rPr>
              <a:t>The data set is from Kaggle, and has over 7,000 observations. 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75" y="1367650"/>
            <a:ext cx="4059126" cy="226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2088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572000" y="154625"/>
            <a:ext cx="4452900" cy="48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Predictor Variable Selection: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To predict churn we based the variable selection on domain logic and heatmap.</a:t>
            </a:r>
            <a:endParaRPr b="1" sz="1400">
              <a:solidFill>
                <a:srgbClr val="000000"/>
              </a:solidFill>
            </a:endParaRPr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400">
                <a:solidFill>
                  <a:srgbClr val="000000"/>
                </a:solidFill>
              </a:rPr>
              <a:t>Tenure </a:t>
            </a:r>
            <a:endParaRPr sz="1400">
              <a:solidFill>
                <a:srgbClr val="000000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200">
                <a:solidFill>
                  <a:srgbClr val="000000"/>
                </a:solidFill>
              </a:rPr>
              <a:t>The length that the customer has been with the company.</a:t>
            </a:r>
            <a:endParaRPr sz="1200">
              <a:solidFill>
                <a:srgbClr val="000000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400">
                <a:solidFill>
                  <a:srgbClr val="000000"/>
                </a:solidFill>
              </a:rPr>
              <a:t>Contract type </a:t>
            </a:r>
            <a:endParaRPr sz="1400">
              <a:solidFill>
                <a:srgbClr val="000000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200">
                <a:solidFill>
                  <a:srgbClr val="000000"/>
                </a:solidFill>
              </a:rPr>
              <a:t>Month to month contracts effects the churn rate because customers can leave more easily than someone with a shorter contract.</a:t>
            </a:r>
            <a:endParaRPr sz="1200">
              <a:solidFill>
                <a:srgbClr val="000000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400">
                <a:solidFill>
                  <a:srgbClr val="000000"/>
                </a:solidFill>
              </a:rPr>
              <a:t>Monthly charges </a:t>
            </a:r>
            <a:endParaRPr sz="1400">
              <a:solidFill>
                <a:srgbClr val="000000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200">
                <a:solidFill>
                  <a:srgbClr val="000000"/>
                </a:solidFill>
              </a:rPr>
              <a:t>High monthly charges causes </a:t>
            </a:r>
            <a:r>
              <a:rPr lang="en" sz="1200">
                <a:solidFill>
                  <a:srgbClr val="000000"/>
                </a:solidFill>
              </a:rPr>
              <a:t>dissatisfaction</a:t>
            </a:r>
            <a:r>
              <a:rPr lang="en" sz="1200">
                <a:solidFill>
                  <a:srgbClr val="000000"/>
                </a:solidFill>
              </a:rPr>
              <a:t> and increases the churn rate</a:t>
            </a:r>
            <a:endParaRPr sz="1200">
              <a:solidFill>
                <a:srgbClr val="000000"/>
              </a:solidFill>
            </a:endParaRPr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2857"/>
              <a:buChar char="-"/>
            </a:pPr>
            <a:r>
              <a:rPr lang="en">
                <a:solidFill>
                  <a:srgbClr val="000000"/>
                </a:solidFill>
              </a:rPr>
              <a:t>I</a:t>
            </a:r>
            <a:r>
              <a:rPr lang="en" sz="1400">
                <a:solidFill>
                  <a:srgbClr val="000000"/>
                </a:solidFill>
              </a:rPr>
              <a:t>nternet service type</a:t>
            </a:r>
            <a:endParaRPr sz="1400">
              <a:solidFill>
                <a:srgbClr val="000000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200">
                <a:solidFill>
                  <a:srgbClr val="000000"/>
                </a:solidFill>
              </a:rPr>
              <a:t>Customers using fiber optic </a:t>
            </a:r>
            <a:r>
              <a:rPr lang="en" sz="1200">
                <a:solidFill>
                  <a:srgbClr val="000000"/>
                </a:solidFill>
              </a:rPr>
              <a:t>internet</a:t>
            </a:r>
            <a:r>
              <a:rPr lang="en" sz="1200">
                <a:solidFill>
                  <a:srgbClr val="000000"/>
                </a:solidFill>
              </a:rPr>
              <a:t> (premium service) which is high in monthly charges and fees can cause churn</a:t>
            </a:r>
            <a:endParaRPr sz="1200">
              <a:solidFill>
                <a:srgbClr val="000000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400">
                <a:solidFill>
                  <a:srgbClr val="000000"/>
                </a:solidFill>
              </a:rPr>
              <a:t>Payment method (e-checks)</a:t>
            </a:r>
            <a:endParaRPr sz="1400">
              <a:solidFill>
                <a:srgbClr val="000000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200">
                <a:solidFill>
                  <a:srgbClr val="000000"/>
                </a:solidFill>
              </a:rPr>
              <a:t>Customers using e-checks in telecom companies are more aware of monthly  billing increase and are more likely to cancel when they feel they are overcharged</a:t>
            </a:r>
            <a:endParaRPr sz="1200">
              <a:solidFill>
                <a:srgbClr val="000000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400">
                <a:solidFill>
                  <a:srgbClr val="000000"/>
                </a:solidFill>
              </a:rPr>
              <a:t>Tech support availability</a:t>
            </a:r>
            <a:endParaRPr sz="1400">
              <a:solidFill>
                <a:srgbClr val="000000"/>
              </a:solidFill>
            </a:endParaRPr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200">
                <a:solidFill>
                  <a:srgbClr val="000000"/>
                </a:solidFill>
              </a:rPr>
              <a:t>Lack of tech support increases chances of churn </a:t>
            </a:r>
            <a:endParaRPr sz="12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25" y="901801"/>
            <a:ext cx="3706500" cy="3759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Transformation: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b="1" lang="en" sz="1400">
                <a:solidFill>
                  <a:srgbClr val="000000"/>
                </a:solidFill>
              </a:rPr>
              <a:t>Dropped CustomerID</a:t>
            </a:r>
            <a:endParaRPr b="1"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 sz="1400">
                <a:solidFill>
                  <a:srgbClr val="000000"/>
                </a:solidFill>
              </a:rPr>
              <a:t>It’s an identifier and doesn’t have any predictive information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 sz="1400">
                <a:solidFill>
                  <a:srgbClr val="000000"/>
                </a:solidFill>
              </a:rPr>
              <a:t>df = df.drop('customerID', axis=1)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b="1" lang="en" sz="1400">
                <a:solidFill>
                  <a:srgbClr val="000000"/>
                </a:solidFill>
              </a:rPr>
              <a:t>Converted ‘TotalCharges’ to numeric and dropped rows with missing ‘TotalCharges’</a:t>
            </a:r>
            <a:endParaRPr b="1"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 sz="1400">
                <a:solidFill>
                  <a:srgbClr val="000000"/>
                </a:solidFill>
              </a:rPr>
              <a:t>Some rows had spaces/ characters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b="1" lang="en" sz="1400">
                <a:solidFill>
                  <a:srgbClr val="000000"/>
                </a:solidFill>
              </a:rPr>
              <a:t>Check missing values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b="1" lang="en" sz="1400">
                <a:solidFill>
                  <a:srgbClr val="000000"/>
                </a:solidFill>
              </a:rPr>
              <a:t>Check for duplicates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Partitioning: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 sz="1400">
                <a:solidFill>
                  <a:srgbClr val="000000"/>
                </a:solidFill>
              </a:rPr>
              <a:t>Split train/ testing 0.2 test size and 0.8 training size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86" name="Google Shape;86;p16" title="Screenshot 2025-12-03 at 8.04.3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650" y="1122900"/>
            <a:ext cx="3393688" cy="18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Screenshot 2025-12-03 at 8.05.10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137" y="3072825"/>
            <a:ext cx="3957676" cy="100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Screenshot 2025-12-03 at 10.24.14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650" y="4337399"/>
            <a:ext cx="6261925" cy="62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Models:</a:t>
            </a:r>
            <a:endParaRPr/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Logistic Regression</a:t>
            </a:r>
            <a:endParaRPr/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Decision Tree</a:t>
            </a:r>
            <a:endParaRPr/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K-Nearest Neighbors (KNN)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Logistic Regression: 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Handles binary classification and in this case it works well for predicting churn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It can manage large datasets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Decision Tree: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Can handle categorical and numerical features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K-Nearest Neighbors (KNN):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Identify patterns in churn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</a:t>
            </a:r>
            <a:r>
              <a:rPr lang="en"/>
              <a:t>ccuracy: 78.82% </a:t>
            </a:r>
            <a:endParaRPr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Precision for 0 (no churn): 83%</a:t>
            </a:r>
            <a:endParaRPr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Precision for 1 (churn): 62% </a:t>
            </a:r>
            <a:endParaRPr/>
          </a:p>
          <a:p>
            <a:pPr indent="-3111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True negative (918) -&gt; predicting loyal customers (no churn)</a:t>
            </a:r>
            <a:endParaRPr/>
          </a:p>
          <a:p>
            <a:pPr indent="-3111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False positive (115) -&gt; customers who did not churn but the model predicted churn</a:t>
            </a:r>
            <a:endParaRPr/>
          </a:p>
          <a:p>
            <a:pPr indent="-3111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False negative (183) -&gt; customers who did churn but the model predicted no churn</a:t>
            </a:r>
            <a:endParaRPr/>
          </a:p>
          <a:p>
            <a:pPr indent="-3111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True positive (191) -&gt; customers who did churn and the model predicted churn</a:t>
            </a:r>
            <a:endParaRPr/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highlight>
                  <a:schemeClr val="lt1"/>
                </a:highlight>
              </a:rPr>
              <a:t>This means the model does well in predicting no churn, while it may struggle to predict customers who actually do end up churning. </a:t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88" y="1454075"/>
            <a:ext cx="4009975" cy="32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644675" y="383675"/>
            <a:ext cx="4166400" cy="43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>
                <a:highlight>
                  <a:srgbClr val="FFFFFF"/>
                </a:highlight>
              </a:rPr>
              <a:t>Precision for 0 (no churn):  83%  </a:t>
            </a:r>
            <a:endParaRPr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>
                <a:highlight>
                  <a:srgbClr val="FFFFFF"/>
                </a:highlight>
              </a:rPr>
              <a:t>Precision for 1 (churn): 61%</a:t>
            </a:r>
            <a:endParaRPr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The model is predicting high true negative, which is a good sign because most customers do not churn. 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It also shows a </a:t>
            </a:r>
            <a:r>
              <a:rPr lang="en"/>
              <a:t>higher</a:t>
            </a:r>
            <a:r>
              <a:rPr lang="en"/>
              <a:t> number of false negatives than false </a:t>
            </a:r>
            <a:r>
              <a:rPr lang="en"/>
              <a:t>positives</a:t>
            </a:r>
            <a:r>
              <a:rPr lang="en"/>
              <a:t> which indicates that it still struggles to predict customers who actually churn.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562" y="1367725"/>
            <a:ext cx="3916826" cy="313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5212" y="3117750"/>
            <a:ext cx="3105173" cy="15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 (KNN)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Overall Accuracy: 82.01%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Precision for 0 (No Churn) = 86.96%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Precision for 1 (Churn) = 67.19%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True Negative: 1834 -&gt; customers were predicted to </a:t>
            </a:r>
            <a:r>
              <a:rPr i="1" lang="en" sz="1400"/>
              <a:t>not</a:t>
            </a:r>
            <a:r>
              <a:rPr lang="en" sz="1400"/>
              <a:t> churn and did not churn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True Positive: 473 -&gt; customers were predicted to churn and churned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False Negative: 275 -&gt; customers were predicted to </a:t>
            </a:r>
            <a:r>
              <a:rPr i="1" lang="en" sz="1400"/>
              <a:t>not</a:t>
            </a:r>
            <a:r>
              <a:rPr lang="en" sz="1400"/>
              <a:t> churn but churned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False Positive: 231 -&gt; customers were predicted to churn but did not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This model predicts people who will not churn (loyal customers) more </a:t>
            </a:r>
            <a:r>
              <a:rPr lang="en" sz="1400"/>
              <a:t>accurately</a:t>
            </a:r>
            <a:r>
              <a:rPr lang="en" sz="1400"/>
              <a:t> than it does customers who will churn.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63" y="1559325"/>
            <a:ext cx="3975825" cy="31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Implication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4644675" y="35165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Results</a:t>
            </a:r>
            <a:r>
              <a:rPr b="1" lang="en" sz="1400">
                <a:solidFill>
                  <a:srgbClr val="000000"/>
                </a:solidFill>
              </a:rPr>
              <a:t>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KNN model performed the best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Managerial insights: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Identify loyal customers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Offer discounts/ loyalty rewards to customers, especially those not predicted as loyal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can still show special attention to the 67% of customers who are accurately predicted as a churn risk</a:t>
            </a:r>
            <a:endParaRPr sz="1400"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150" y="1845875"/>
            <a:ext cx="3709662" cy="194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 title="Screenshot 2025-12-04 at 12.43.1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350" y="3440200"/>
            <a:ext cx="3650675" cy="162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ctrTitle"/>
          </p:nvPr>
        </p:nvSpPr>
        <p:spPr>
          <a:xfrm>
            <a:off x="311700" y="11705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